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24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8263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85978DB-5AC8-4AF4-B4E5-3E3E4EA7A9B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27F44D-A7D9-478C-AEC1-4B633ED7E3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25B8E6-C2FB-466D-8492-7A4C2584E3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0BFD9F-32FB-4843-83D3-75AF4E58D0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9B4120-E487-46C8-B528-01A0C8B3D6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0D36E9-66DC-41FF-8136-5585E721CA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7124E6-277C-4637-BB6F-908F3032A5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B123F5-91DA-4EB3-84C8-2AFBC15D47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0AEDE9-AB1A-4BA0-BDD9-69682CD9F5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0E3C3A-F534-4A28-A3A5-0C88F60A17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3A62E2-3656-4037-AD46-4629C382D4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B491DC-E140-41A4-98CB-9B58B62654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C9C3EF-1632-4497-8CCA-AE251DFF4E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457F03-3836-4944-80E3-DA16265432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D741BF-6736-4CA0-B540-94A0017434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401580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840"/>
            <a:ext cx="4015800" cy="142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4674240" y="2763360"/>
            <a:ext cx="4015800" cy="1423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40824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4082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457200" y="1372320"/>
            <a:ext cx="822924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Logistic Regression</a:t>
            </a:r>
            <a:endParaRPr b="0" lang="en-US" sz="54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457200" y="2470320"/>
            <a:ext cx="82292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</a:rPr>
              <a:t>Causal Inference</a:t>
            </a:r>
            <a:endParaRPr b="0" lang="en-US" sz="24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</a:rPr>
              <a:t>Shrestha 2026</a:t>
            </a:r>
            <a:endParaRPr b="0" lang="en-US" sz="24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457200" y="4117680"/>
            <a:ext cx="8229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ffffff"/>
                </a:solidFill>
                <a:latin typeface="Calibri"/>
              </a:rPr>
              <a:t>Modeling Binary Outcomes with the Logistic Function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ubTitle"/>
          </p:nvPr>
        </p:nvSpPr>
        <p:spPr>
          <a:xfrm>
            <a:off x="457200" y="204840"/>
            <a:ext cx="8229240" cy="39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Modeling a binary outcome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Question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457200" y="1097640"/>
            <a:ext cx="8229240" cy="34743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914400" y="1143000"/>
            <a:ext cx="7314840" cy="32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333333"/>
                </a:solidFill>
                <a:latin typeface="Calibri"/>
                <a:ea typeface="Noto Sans CJK SC"/>
              </a:rPr>
              <a:t>Predict the probability of good vs. bad health </a:t>
            </a:r>
            <a:r>
              <a:rPr b="0" i="1" lang="en-US" sz="2000" spc="-1" strike="noStrike">
                <a:solidFill>
                  <a:srgbClr val="333333"/>
                </a:solidFill>
                <a:latin typeface="Calibri"/>
              </a:rPr>
              <a:t>(binary) for older population</a:t>
            </a:r>
            <a:r>
              <a:rPr b="0" i="1" lang="en-US" sz="1800" spc="-1" strike="noStrike">
                <a:solidFill>
                  <a:srgbClr val="333333"/>
                </a:solidFill>
                <a:latin typeface="Calibri"/>
              </a:rPr>
              <a:t> given: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College education (yes/no)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Income level (high/low)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Insurance status (insured/uninsured)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Stress level (continuous)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333333"/>
                </a:solidFill>
                <a:latin typeface="Calibri"/>
              </a:rPr>
              <a:t>Note: We did this using a LPM in the previous lecture.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ubTitle"/>
          </p:nvPr>
        </p:nvSpPr>
        <p:spPr>
          <a:xfrm>
            <a:off x="457200" y="204840"/>
            <a:ext cx="8229240" cy="39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Simulation using a known DGP and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True parameters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-133560"/>
            <a:ext cx="4800600" cy="123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355269"/>
                </a:solidFill>
                <a:latin typeface="Calibri"/>
              </a:rPr>
              <a:t>Data Gen. Process</a:t>
            </a:r>
            <a:endParaRPr b="0" lang="en-US" sz="3200" spc="-1" strike="noStrike">
              <a:solidFill>
                <a:srgbClr val="355269"/>
              </a:solidFill>
              <a:latin typeface="Calibri"/>
            </a:endParaRPr>
          </a:p>
        </p:txBody>
      </p:sp>
      <p:sp>
        <p:nvSpPr>
          <p:cNvPr id="27" name=""/>
          <p:cNvSpPr/>
          <p:nvPr/>
        </p:nvSpPr>
        <p:spPr>
          <a:xfrm>
            <a:off x="1143000" y="1143360"/>
            <a:ext cx="1143000" cy="686520"/>
          </a:xfrm>
          <a:prstGeom prst="rect">
            <a:avLst/>
          </a:prstGeom>
          <a:gradFill rotWithShape="0">
            <a:gsLst>
              <a:gs pos="0">
                <a:srgbClr val="dde8cb">
                  <a:alpha val="56000"/>
                </a:srgbClr>
              </a:gs>
              <a:gs pos="100000">
                <a:srgbClr val="ffd7d7">
                  <a:alpha val="56000"/>
                </a:srgbClr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355269"/>
                </a:solidFill>
                <a:latin typeface="Arial"/>
              </a:rPr>
              <a:t>college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657600" y="3431160"/>
            <a:ext cx="1143000" cy="686520"/>
          </a:xfrm>
          <a:prstGeom prst="rect">
            <a:avLst/>
          </a:prstGeom>
          <a:gradFill rotWithShape="0">
            <a:gsLst>
              <a:gs pos="0">
                <a:srgbClr val="dde8cb"/>
              </a:gs>
              <a:gs pos="100000">
                <a:srgbClr val="ffd7d7"/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355269"/>
                </a:solidFill>
                <a:latin typeface="Arial"/>
              </a:rPr>
              <a:t>health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486400" y="1143360"/>
            <a:ext cx="1143000" cy="686520"/>
          </a:xfrm>
          <a:prstGeom prst="rect">
            <a:avLst/>
          </a:prstGeom>
          <a:gradFill rotWithShape="0">
            <a:gsLst>
              <a:gs pos="0">
                <a:srgbClr val="dde8cb">
                  <a:alpha val="50000"/>
                </a:srgbClr>
              </a:gs>
              <a:gs pos="100000">
                <a:srgbClr val="ffd7d7">
                  <a:alpha val="50000"/>
                </a:srgbClr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355269"/>
                </a:solidFill>
                <a:latin typeface="Arial"/>
              </a:rPr>
              <a:t>stress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429000" y="1143360"/>
            <a:ext cx="1143000" cy="686520"/>
          </a:xfrm>
          <a:prstGeom prst="rect">
            <a:avLst/>
          </a:prstGeom>
          <a:gradFill rotWithShape="0">
            <a:gsLst>
              <a:gs pos="0">
                <a:srgbClr val="dde8cb">
                  <a:alpha val="54000"/>
                </a:srgbClr>
              </a:gs>
              <a:gs pos="100000">
                <a:srgbClr val="ffd7d7">
                  <a:alpha val="54000"/>
                </a:srgbClr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355269"/>
                </a:solidFill>
                <a:latin typeface="Arial"/>
              </a:rPr>
              <a:t>High income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086600" y="2287440"/>
            <a:ext cx="1371600" cy="686520"/>
          </a:xfrm>
          <a:prstGeom prst="rect">
            <a:avLst/>
          </a:prstGeom>
          <a:gradFill rotWithShape="0">
            <a:gsLst>
              <a:gs pos="0">
                <a:srgbClr val="dde8cb"/>
              </a:gs>
              <a:gs pos="100000">
                <a:srgbClr val="ffd7d7"/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rgbClr val="355269"/>
                </a:solidFill>
                <a:latin typeface="Arial"/>
              </a:rPr>
              <a:t>insurance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 rot="2506200">
            <a:off x="2240640" y="2515320"/>
            <a:ext cx="1443960" cy="189360"/>
          </a:xfrm>
          <a:prstGeom prst="rightArrow">
            <a:avLst>
              <a:gd name="adj1" fmla="val 28560"/>
              <a:gd name="adj2" fmla="val 251861"/>
            </a:avLst>
          </a:prstGeom>
          <a:gradFill rotWithShape="0">
            <a:gsLst>
              <a:gs pos="0">
                <a:srgbClr val="dde8cb"/>
              </a:gs>
              <a:gs pos="100000">
                <a:srgbClr val="ffd7d7"/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rot="5419200">
            <a:off x="3658680" y="2517840"/>
            <a:ext cx="1143360" cy="224640"/>
          </a:xfrm>
          <a:prstGeom prst="rightArrow">
            <a:avLst>
              <a:gd name="adj1" fmla="val 28560"/>
              <a:gd name="adj2" fmla="val 168109"/>
            </a:avLst>
          </a:prstGeom>
          <a:gradFill rotWithShape="0">
            <a:gsLst>
              <a:gs pos="0">
                <a:srgbClr val="dde8cb"/>
              </a:gs>
              <a:gs pos="100000">
                <a:srgbClr val="ffd7d7"/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rot="7669800">
            <a:off x="4655520" y="2489040"/>
            <a:ext cx="1553760" cy="247320"/>
          </a:xfrm>
          <a:prstGeom prst="rightArrow">
            <a:avLst>
              <a:gd name="adj1" fmla="val 28560"/>
              <a:gd name="adj2" fmla="val 207501"/>
            </a:avLst>
          </a:prstGeom>
          <a:gradFill rotWithShape="0">
            <a:gsLst>
              <a:gs pos="0">
                <a:srgbClr val="dde8cb"/>
              </a:gs>
              <a:gs pos="100000">
                <a:srgbClr val="ffd7d7"/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25920" bIns="25920" anchor="ctr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 rot="9409800">
            <a:off x="5258880" y="3149280"/>
            <a:ext cx="1553400" cy="325800"/>
          </a:xfrm>
          <a:prstGeom prst="rightArrow">
            <a:avLst>
              <a:gd name="adj1" fmla="val 28560"/>
              <a:gd name="adj2" fmla="val 157480"/>
            </a:avLst>
          </a:prstGeom>
          <a:gradFill rotWithShape="0">
            <a:gsLst>
              <a:gs pos="0">
                <a:srgbClr val="dde8cb"/>
              </a:gs>
              <a:gs pos="100000">
                <a:srgbClr val="ffd7d7"/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343400" y="685800"/>
            <a:ext cx="1371600" cy="606960"/>
          </a:xfrm>
          <a:custGeom>
            <a:avLst/>
            <a:gdLst>
              <a:gd name="textAreaLeft" fmla="*/ 0 w 1371600"/>
              <a:gd name="textAreaRight" fmla="*/ 1371960 w 1371600"/>
              <a:gd name="textAreaTop" fmla="*/ 0 h 606960"/>
              <a:gd name="textAreaBottom" fmla="*/ 607320 h 606960"/>
            </a:gdLst>
            <a:ahLst/>
            <a:rect l="textAreaLeft" t="textAreaTop" r="textAreaRight" b="textAreaBottom"/>
            <a:pathLst>
              <a:path w="21600" h="21600">
                <a:moveTo>
                  <a:pt x="18649" y="9109"/>
                </a:moveTo>
                <a:arcTo wR="8029" hR="8029" stAng="-729553" swAng="-10070447"/>
                <a:lnTo>
                  <a:pt x="0" y="10800"/>
                </a:lnTo>
                <a:arcTo wR="10800" hR="10800" stAng="10800000" swAng="10070447"/>
                <a:lnTo>
                  <a:pt x="23997" y="7957"/>
                </a:lnTo>
                <a:lnTo>
                  <a:pt x="20864" y="12811"/>
                </a:lnTo>
                <a:lnTo>
                  <a:pt x="16009" y="9678"/>
                </a:lnTo>
                <a:close/>
              </a:path>
            </a:pathLst>
          </a:custGeom>
          <a:gradFill rotWithShape="0">
            <a:gsLst>
              <a:gs pos="0">
                <a:srgbClr val="dde8cb"/>
              </a:gs>
              <a:gs pos="100000">
                <a:srgbClr val="ffd7d7"/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 flipV="1" rot="10948200">
            <a:off x="2252160" y="771120"/>
            <a:ext cx="1121040" cy="364320"/>
          </a:xfrm>
          <a:custGeom>
            <a:avLst/>
            <a:gdLst>
              <a:gd name="textAreaLeft" fmla="*/ 0 w 1121040"/>
              <a:gd name="textAreaRight" fmla="*/ 1121400 w 1121040"/>
              <a:gd name="textAreaTop" fmla="*/ 360 h 364320"/>
              <a:gd name="textAreaBottom" fmla="*/ 365040 h 364320"/>
            </a:gdLst>
            <a:ahLst/>
            <a:rect l="textAreaLeft" t="textAreaTop" r="textAreaRight" b="textAreaBottom"/>
            <a:pathLst>
              <a:path w="21600" h="21600">
                <a:moveTo>
                  <a:pt x="16300" y="10800"/>
                </a:moveTo>
                <a:arcTo wR="5500" hR="5500" stAng="0" swAng="-10800000"/>
                <a:lnTo>
                  <a:pt x="0" y="10800"/>
                </a:lnTo>
                <a:arcTo wR="10800" hR="10800" stAng="10800000" swAng="10800000"/>
                <a:lnTo>
                  <a:pt x="24300" y="10800"/>
                </a:lnTo>
                <a:lnTo>
                  <a:pt x="18950" y="16150"/>
                </a:lnTo>
                <a:lnTo>
                  <a:pt x="13600" y="10800"/>
                </a:lnTo>
                <a:close/>
              </a:path>
            </a:pathLst>
          </a:custGeom>
          <a:gradFill rotWithShape="0">
            <a:gsLst>
              <a:gs pos="0">
                <a:srgbClr val="dde8cb"/>
              </a:gs>
              <a:gs pos="100000">
                <a:srgbClr val="ffd7d7"/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143000" y="4572000"/>
            <a:ext cx="5373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355269"/>
                </a:solidFill>
                <a:latin typeface="Arial"/>
              </a:rPr>
              <a:t>We’ll be using a logistic regression to model health.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Data Generating Process (DGP)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457200" y="1189080"/>
            <a:ext cx="8229240" cy="594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640080" y="1234800"/>
            <a:ext cx="18284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θ₀ = 0.3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2743200" y="1234800"/>
            <a:ext cx="54860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Intercept (baseline)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3" name="Shape 4"/>
          <p:cNvSpPr/>
          <p:nvPr/>
        </p:nvSpPr>
        <p:spPr>
          <a:xfrm>
            <a:off x="457200" y="1857240"/>
            <a:ext cx="8229240" cy="5943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640080" y="1902960"/>
            <a:ext cx="18284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5a82"/>
                </a:solidFill>
                <a:latin typeface="Calibri"/>
              </a:rPr>
              <a:t>θ₁ = 0.1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2743200" y="1902960"/>
            <a:ext cx="54860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College effect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457200" y="2525040"/>
            <a:ext cx="8229240" cy="5943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640080" y="2570760"/>
            <a:ext cx="18284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5a82"/>
                </a:solidFill>
                <a:latin typeface="Calibri"/>
              </a:rPr>
              <a:t>θ₂ = 0.2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2743200" y="2570760"/>
            <a:ext cx="54860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High income effect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457200" y="3193560"/>
            <a:ext cx="8229240" cy="5943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640080" y="3239280"/>
            <a:ext cx="18284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5a82"/>
                </a:solidFill>
                <a:latin typeface="Calibri"/>
              </a:rPr>
              <a:t>θ₃ = 0.05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2743200" y="3239280"/>
            <a:ext cx="54860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Insurance effect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457200" y="3861720"/>
            <a:ext cx="8229240" cy="5943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640080" y="3907440"/>
            <a:ext cx="18284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5a82"/>
                </a:solidFill>
                <a:latin typeface="Calibri"/>
              </a:rPr>
              <a:t>θ₄ = -1.0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2743200" y="3907440"/>
            <a:ext cx="54860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Stress effect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457200" y="4575240"/>
            <a:ext cx="8229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Calibri"/>
              </a:rPr>
              <a:t>Note: These are logit coefficients, not probability changes as in LPM</a:t>
            </a:r>
            <a:endParaRPr b="0" lang="en-US" sz="14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Simulation Steps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03840"/>
            <a:ext cx="8229240" cy="33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254"/>
          </a:bodyPr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Start with income and categorize high vs. low income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40824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Use median value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Generate college (binary) from a binomial dist.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40824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Probability higher for high income (say, 0.4)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Generate stress index (continuous variable)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40824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Stress level low for high income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Generate insurance (binary)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alibri"/>
              </a:rPr>
              <a:t>H = f(high income, college, stress index, insurance)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0">
              <a:spcBef>
                <a:spcPts val="1131"/>
              </a:spcBef>
              <a:buNone/>
              <a:tabLst>
                <a:tab algn="l" pos="40824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299520" y="0"/>
            <a:ext cx="3586680" cy="2743200"/>
          </a:xfrm>
          <a:prstGeom prst="rect">
            <a:avLst/>
          </a:prstGeom>
          <a:ln w="0">
            <a:noFill/>
          </a:ln>
        </p:spPr>
      </p:pic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317160" y="2674080"/>
            <a:ext cx="3569040" cy="2355120"/>
          </a:xfrm>
          <a:prstGeom prst="rect">
            <a:avLst/>
          </a:prstGeom>
          <a:ln w="0">
            <a:noFill/>
          </a:ln>
        </p:spPr>
      </p:pic>
      <p:sp>
        <p:nvSpPr>
          <p:cNvPr id="60" name=""/>
          <p:cNvSpPr txBox="1"/>
          <p:nvPr/>
        </p:nvSpPr>
        <p:spPr>
          <a:xfrm>
            <a:off x="4572000" y="685800"/>
            <a:ext cx="3323160" cy="35301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355269"/>
                </a:solidFill>
                <a:latin typeface="Arial"/>
              </a:rPr>
              <a:t>Moving from X and </a:t>
            </a:r>
            <a:r>
              <a:rPr b="1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θ</a:t>
            </a:r>
            <a:r>
              <a:rPr b="1" lang="en-US" sz="1800" spc="-1" strike="noStrike">
                <a:solidFill>
                  <a:srgbClr val="355269"/>
                </a:solidFill>
                <a:latin typeface="Arial"/>
                <a:ea typeface="DejaVu Sans"/>
              </a:rPr>
              <a:t> to H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355269"/>
                </a:solidFill>
                <a:latin typeface="Arial"/>
                <a:ea typeface="DejaVu Sans"/>
              </a:rPr>
              <a:t>1. compute z = X</a:t>
            </a:r>
            <a:r>
              <a:rPr b="0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θ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2. compute p = σ</a:t>
            </a:r>
            <a:r>
              <a:rPr b="0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(z)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3. use p in a binomial dist.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to generate H.</a:t>
            </a:r>
            <a:r>
              <a:rPr b="0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 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- </a:t>
            </a:r>
            <a:r>
              <a:rPr b="0" i="1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z is the logit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r>
              <a:rPr b="0" i="1" lang="en-US" sz="1800" spc="-1" strike="noStrike">
                <a:solidFill>
                  <a:srgbClr val="355269"/>
                </a:solidFill>
                <a:latin typeface="DejaVu Sans"/>
                <a:ea typeface="DejaVu Sans"/>
              </a:rPr>
              <a:t>- σ(.) is the logistic function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457200" y="204840"/>
            <a:ext cx="8229240" cy="39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LPM vs Logistic Regression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Why Not Linear Probability Model?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457200" y="1189080"/>
            <a:ext cx="3931560" cy="320256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640080" y="1372320"/>
            <a:ext cx="36572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e7d32"/>
                </a:solidFill>
                <a:latin typeface="Calibri"/>
              </a:rPr>
              <a:t>Linear Probability Model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640080" y="2012760"/>
            <a:ext cx="3657240" cy="21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Simple to interpret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Coefficients = marginal effects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No guarantee probabilities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 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are between 0 and 1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Can produce negative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 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Probabilities  or those &gt; 1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4754880" y="1189080"/>
            <a:ext cx="3931560" cy="320256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4937760" y="1372320"/>
            <a:ext cx="36572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</a:rPr>
              <a:t>Logistic Regression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4937760" y="2012760"/>
            <a:ext cx="3657240" cy="21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Probabilities always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 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between 0 and 1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Uses logistic (sigmoid)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   </a:t>
            </a: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function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Note: Coefficients ≠ marginal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effects (must be calculated)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457200" y="204840"/>
            <a:ext cx="8229240" cy="39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Modeling objective and the logistic function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Primary goal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1" name=""/>
              <p:cNvSpPr txBox="1"/>
              <p:nvPr/>
            </p:nvSpPr>
            <p:spPr>
              <a:xfrm>
                <a:off x="457200" y="1203840"/>
                <a:ext cx="4015800" cy="298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72" name=""/>
              <p:cNvSpPr txBox="1"/>
              <p:nvPr/>
            </p:nvSpPr>
            <p:spPr>
              <a:xfrm>
                <a:off x="3657600" y="1203840"/>
                <a:ext cx="2286000" cy="685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r>
                      <m:t xml:space="preserve">=</m:t>
                    </m:r>
                    <m:r>
                      <m:t xml:space="preserve">σ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θ</m:t>
                        </m:r>
                        <m:r>
                          <m:t xml:space="preserve">X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242000" y="2284200"/>
            <a:ext cx="6073200" cy="205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561" lnSpcReduction="20000"/>
          </a:bodyPr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 → true probabilities (of being in good health)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DejaVu Sans"/>
                <a:ea typeface="DejaVu Sans"/>
              </a:rPr>
              <a:t>σ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(.) is the logistic function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DejaVu Sans"/>
                <a:ea typeface="DejaVu Sans"/>
              </a:rPr>
              <a:t>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 is a vector of true coefficients [0.3, 0.1, 0.2, 0.05, -1]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X → inputs (college, high income, insurance, stress)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794"/>
              </a:spcBef>
              <a:buClr>
                <a:srgbClr val="000000"/>
              </a:buClr>
              <a:buFont typeface="Liberation Serif"/>
              <a:buAutoNum type="arabicPeriod"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We will simulate p using the true coefficients and the DGP.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r>
              <a:rPr b="0" i="1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Probabilities are the building blocks of a binary outcome. We want a model to estimate them.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The Sigmoid (Logistic) Function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457200" y="1097640"/>
            <a:ext cx="8229240" cy="7318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457200" y="118908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69440" y="2284560"/>
            <a:ext cx="8229240" cy="22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Input (logit): 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z = Xθ (linear combination)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Output: 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Probability between 0 and 1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S-shaped curve: 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- Negative z → probabilities &lt; 0.5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- Positive z → probabilities &gt; 0.5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8" name=""/>
              <p:cNvSpPr txBox="1"/>
              <p:nvPr/>
            </p:nvSpPr>
            <p:spPr>
              <a:xfrm>
                <a:off x="3945960" y="2261880"/>
                <a:ext cx="1269720" cy="169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79" name=""/>
              <p:cNvSpPr txBox="1"/>
              <p:nvPr/>
            </p:nvSpPr>
            <p:spPr>
              <a:xfrm>
                <a:off x="3945960" y="2261880"/>
                <a:ext cx="1269720" cy="634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80" name=""/>
              <p:cNvSpPr txBox="1"/>
              <p:nvPr/>
            </p:nvSpPr>
            <p:spPr>
              <a:xfrm>
                <a:off x="2359080" y="1052280"/>
                <a:ext cx="3813120" cy="777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r>
                      <m:t xml:space="preserve"> </m:t>
                    </m:r>
                    <m:r>
                      <m:t xml:space="preserve">=</m:t>
                    </m:r>
                    <m:r>
                      <m:t xml:space="preserve"> </m:t>
                    </m:r>
                    <m:r>
                      <m:t xml:space="preserve">sigma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z</m:t>
                        </m:r>
                      </m:e>
                    </m:d>
                    <m:r>
                      <m:t xml:space="preserve"> </m:t>
                    </m:r>
                    <m:r>
                      <m:t xml:space="preserve">=</m:t>
                    </m:r>
                    <m:r>
                      <m:t xml:space="preserve"> 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1</m:t>
                        </m:r>
                        <m:r>
                          <m:t xml:space="preserve">+</m:t>
                        </m:r>
                        <m:r>
                          <m:t xml:space="preserve">exp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−</m:t>
                            </m:r>
                            <m:r>
                              <m:t xml:space="preserve">z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1052280" y="320760"/>
            <a:ext cx="6318000" cy="42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457200" y="204840"/>
            <a:ext cx="8229240" cy="39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Objectives and the loss function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de8cb"/>
            </a:gs>
            <a:gs pos="100000">
              <a:srgbClr val="b4c7d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Objectives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4" name=""/>
              <p:cNvSpPr txBox="1"/>
              <p:nvPr/>
            </p:nvSpPr>
            <p:spPr>
              <a:xfrm>
                <a:off x="457200" y="1203840"/>
                <a:ext cx="4015800" cy="298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242000" y="1143360"/>
            <a:ext cx="607320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19"/>
          </a:bodyPr>
          <a:p>
            <a:pPr marL="432000"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1) Estimate </a:t>
            </a:r>
            <a:r>
              <a:rPr b="0" lang="en-US" sz="1800" spc="-1" strike="noStrike">
                <a:solidFill>
                  <a:schemeClr val="dk1"/>
                </a:solidFill>
                <a:latin typeface="DejaVu Sans"/>
                <a:ea typeface="DejaVu Sans"/>
              </a:rPr>
              <a:t>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 using X and y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  <a:ea typeface="DejaVu Sans"/>
              </a:rPr>
              <a:t>logistic and LPM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0">
              <a:spcBef>
                <a:spcPts val="281"/>
              </a:spcBef>
              <a:buNone/>
              <a:tabLst>
                <a:tab algn="l" pos="408240"/>
              </a:tabLst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2) Use </a:t>
            </a:r>
            <a:r>
              <a:rPr b="0" lang="en-US" sz="1800" spc="-1" strike="noStrike">
                <a:solidFill>
                  <a:schemeClr val="dk1"/>
                </a:solidFill>
                <a:latin typeface="DejaVu Sans"/>
                <a:ea typeface="DejaVu Sans"/>
              </a:rPr>
              <a:t>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 hats (estimates) to predict probabilities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40824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  <a:ea typeface="DejaVu Sans"/>
              </a:rPr>
              <a:t>Compare logistic vs LPM predictions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DejaVu Sans"/>
              </a:rPr>
              <a:t>3) Calculate marginal effects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0">
              <a:spcBef>
                <a:spcPts val="564"/>
              </a:spcBef>
              <a:buNone/>
              <a:tabLst>
                <a:tab algn="l" pos="408240"/>
              </a:tabLst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794"/>
              </a:spcBef>
              <a:buNone/>
              <a:tabLst>
                <a:tab algn="l" pos="40824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From Logits to Probabilities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914400" y="1280520"/>
            <a:ext cx="548280" cy="548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914400" y="1280520"/>
            <a:ext cx="5482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24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1645920" y="132660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5a82"/>
                </a:solidFill>
                <a:latin typeface="Calibri"/>
              </a:rPr>
              <a:t>Calculate Logit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1645920" y="157356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urier New"/>
                <a:ea typeface="Courier New"/>
              </a:rPr>
              <a:t>z = Xθ (linear combination)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914400" y="2287440"/>
            <a:ext cx="548280" cy="548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914400" y="2287440"/>
            <a:ext cx="5482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24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1645920" y="233316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5a82"/>
                </a:solidFill>
                <a:latin typeface="Calibri"/>
              </a:rPr>
              <a:t>Apply Sigmoid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1645920" y="258048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urier New"/>
                <a:ea typeface="Courier New"/>
              </a:rPr>
              <a:t>p = σ(z) = 1/(1 + exp(-z))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914400" y="3294000"/>
            <a:ext cx="548280" cy="54864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914400" y="3294000"/>
            <a:ext cx="54828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24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1645920" y="333972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5a82"/>
                </a:solidFill>
                <a:latin typeface="Calibri"/>
              </a:rPr>
              <a:t>Generate Outcome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1645920" y="358704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Courier New"/>
                <a:ea typeface="Courier New"/>
              </a:rPr>
              <a:t>y ~ Binomial(1, p)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457200" y="4392360"/>
            <a:ext cx="8229240" cy="548640"/>
          </a:xfrm>
          <a:prstGeom prst="rect">
            <a:avLst/>
          </a:prstGeom>
          <a:solidFill>
            <a:srgbClr val="fff3c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457200" y="439236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856404"/>
                </a:solidFill>
                <a:latin typeface="Calibri"/>
              </a:rPr>
              <a:t>Key: Probabilities come from the logistic function!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The Loss Function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457200" y="1097640"/>
            <a:ext cx="8568000" cy="10972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640080" y="1189080"/>
            <a:ext cx="786348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</a:rPr>
              <a:t>Cross-Entropy Loss: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685800" y="1600200"/>
            <a:ext cx="82749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457560" y="2286000"/>
            <a:ext cx="8229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65a82"/>
                </a:solidFill>
                <a:latin typeface="Calibri"/>
              </a:rPr>
              <a:t>Intuition: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640080" y="2927880"/>
            <a:ext cx="7863480" cy="13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When y = 1: 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High p̂ → low loss | Low p̂ → high loss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When y = 0: 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Low p̂ → low loss | High p̂ → high loss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We don’t have an analytical solution for </a:t>
            </a:r>
            <a:r>
              <a:rPr b="0" lang="en-US" sz="1800" spc="-1" strike="noStrike">
                <a:solidFill>
                  <a:srgbClr val="333333"/>
                </a:solidFill>
                <a:latin typeface="DejaVu Sans"/>
                <a:ea typeface="DejaVu Sans"/>
              </a:rPr>
              <a:t>θ</a:t>
            </a:r>
            <a:r>
              <a:rPr b="0" lang="en-US" sz="1800" spc="-1" strike="noStrike">
                <a:solidFill>
                  <a:srgbClr val="333333"/>
                </a:solidFill>
                <a:latin typeface="Calibri"/>
                <a:ea typeface="DejaVu Sans"/>
              </a:rPr>
              <a:t>. Need gradient descent.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7" name=""/>
              <p:cNvSpPr txBox="1"/>
              <p:nvPr/>
            </p:nvSpPr>
            <p:spPr>
              <a:xfrm>
                <a:off x="3943800" y="2156760"/>
                <a:ext cx="4928760" cy="168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08" name=""/>
              <p:cNvSpPr txBox="1"/>
              <p:nvPr/>
            </p:nvSpPr>
            <p:spPr>
              <a:xfrm>
                <a:off x="3943800" y="2156760"/>
                <a:ext cx="1269720" cy="634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/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09" name=""/>
              <p:cNvSpPr txBox="1"/>
              <p:nvPr/>
            </p:nvSpPr>
            <p:spPr>
              <a:xfrm>
                <a:off x="2057400" y="1280520"/>
                <a:ext cx="5495400" cy="914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C</m:t>
                    </m:r>
                    <m:r>
                      <m:t xml:space="preserve"> </m:t>
                    </m:r>
                    <m:r>
                      <m:t xml:space="preserve">=</m:t>
                    </m:r>
                    <m:r>
                      <m:t xml:space="preserve"> 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n</m:t>
                        </m:r>
                      </m:den>
                    </m:f>
                    <m:nary>
                      <m:naryPr>
                        <m:chr m:val="∑"/>
                      </m:naryPr>
                      <m:sub>
                        <m:r>
                          <m:t xml:space="preserve">i</m:t>
                        </m:r>
                        <m:r>
                          <m:t xml:space="preserve">=</m:t>
                        </m:r>
                        <m:r>
                          <m:t xml:space="preserve">1</m:t>
                        </m:r>
                      </m:sub>
                      <m:sup>
                        <m:r>
                          <m:t xml:space="preserve">n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</m:dPr>
                          <m:e>
                            <m:sSub>
                              <m:e>
                                <m:r>
                                  <m:t xml:space="preserve">y</m:t>
                                </m:r>
                              </m:e>
                              <m:sub>
                                <m:r>
                                  <m:t xml:space="preserve">i</m:t>
                                </m:r>
                              </m:sub>
                            </m:sSub>
                            <m:r>
                              <m:t xml:space="preserve">log</m:t>
                            </m:r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acc>
                                  <m:accPr>
                                    <m:chr m:val="^"/>
                                  </m:accPr>
                                  <m:e>
                                    <m:sSub>
                                      <m:e>
                                        <m:r>
                                          <m:t xml:space="preserve">p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  <m:r>
                              <m:t xml:space="preserve">+</m:t>
                            </m:r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1</m:t>
                                </m:r>
                                <m:r>
                                  <m:t xml:space="preserve">−</m:t>
                                </m:r>
                                <m:sSub>
                                  <m:e>
                                    <m:r>
                                      <m:t xml:space="preserve">y</m:t>
                                    </m:r>
                                  </m:e>
                                  <m:sub>
                                    <m:r>
                                      <m:t xml:space="preserve">i</m:t>
                                    </m:r>
                                  </m:sub>
                                </m:sSub>
                              </m:e>
                            </m:d>
                            <m:r>
                              <m:t xml:space="preserve">log</m:t>
                            </m:r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1</m:t>
                                </m:r>
                                <m:r>
                                  <m:t xml:space="preserve">−</m:t>
                                </m:r>
                                <m:acc>
                                  <m:accPr>
                                    <m:chr m:val="^"/>
                                  </m:accPr>
                                  <m:e>
                                    <m:sSub>
                                      <m:e>
                                        <m:r>
                                          <m:t xml:space="preserve">p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d>
                      </m:e>
                    </m:nary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457200" y="204840"/>
            <a:ext cx="8229240" cy="39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Gradient and gradient descent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The </a:t>
            </a: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Gradient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57200" y="1097640"/>
            <a:ext cx="8229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333333"/>
                </a:solidFill>
                <a:latin typeface="Calibri"/>
              </a:rPr>
              <a:t>Gradient = vector of </a:t>
            </a:r>
            <a:r>
              <a:rPr b="0" lang="en-US" sz="2000" spc="-1" strike="noStrike">
                <a:solidFill>
                  <a:srgbClr val="333333"/>
                </a:solidFill>
                <a:latin typeface="Calibri"/>
              </a:rPr>
              <a:t>partial derivatives: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914400" y="1463400"/>
            <a:ext cx="7086240" cy="2194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1554480" y="1783800"/>
            <a:ext cx="6034680" cy="10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ourier New"/>
                <a:ea typeface="Courier New"/>
              </a:rPr>
              <a:t>where: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ourier New"/>
                <a:ea typeface="Courier New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Courier New"/>
                <a:ea typeface="Courier New"/>
              </a:rPr>
              <a:t>Xᵀ is (5 × n) </a:t>
            </a:r>
            <a:r>
              <a:rPr b="0" lang="en-US" sz="1800" spc="-1" strike="noStrike">
                <a:solidFill>
                  <a:srgbClr val="333333"/>
                </a:solidFill>
                <a:latin typeface="Courier New"/>
                <a:ea typeface="Courier New"/>
              </a:rPr>
              <a:t>matrix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333333"/>
                </a:solidFill>
                <a:latin typeface="Courier New"/>
                <a:ea typeface="Courier New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Courier New"/>
                <a:ea typeface="Courier New"/>
              </a:rPr>
              <a:t>σ(Xθ) - Y is </a:t>
            </a:r>
            <a:r>
              <a:rPr b="0" lang="en-US" sz="1800" spc="-1" strike="noStrike">
                <a:solidFill>
                  <a:srgbClr val="333333"/>
                </a:solidFill>
                <a:latin typeface="Courier New"/>
                <a:ea typeface="Courier New"/>
              </a:rPr>
              <a:t>(n × 1) vector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457200" y="3657600"/>
            <a:ext cx="8229240" cy="73188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457200" y="356868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e7d32"/>
                </a:solidFill>
                <a:latin typeface="Courier New"/>
                <a:ea typeface="Courier New"/>
              </a:rPr>
              <a:t>θₙ = θₒ - </a:t>
            </a:r>
            <a:r>
              <a:rPr b="1" lang="en-US" sz="2800" spc="-1" strike="noStrike">
                <a:solidFill>
                  <a:srgbClr val="2e7d32"/>
                </a:solidFill>
                <a:latin typeface="Courier New"/>
                <a:ea typeface="Courier New"/>
              </a:rPr>
              <a:t>η × </a:t>
            </a:r>
            <a:r>
              <a:rPr b="1" lang="en-US" sz="2800" spc="-1" strike="noStrike">
                <a:solidFill>
                  <a:srgbClr val="2e7d32"/>
                </a:solidFill>
                <a:latin typeface="Courier New"/>
                <a:ea typeface="Courier New"/>
              </a:rPr>
              <a:t>gradient</a:t>
            </a:r>
            <a:endParaRPr b="0" lang="en-US" sz="2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457200" y="4392360"/>
            <a:ext cx="82292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Calibri"/>
              </a:rPr>
              <a:t>Move in opposite direction </a:t>
            </a:r>
            <a:r>
              <a:rPr b="0" i="1" lang="en-US" sz="1400" spc="-1" strike="noStrike">
                <a:solidFill>
                  <a:srgbClr val="666666"/>
                </a:solidFill>
                <a:latin typeface="Calibri"/>
              </a:rPr>
              <a:t>of gradient to minimize loss</a:t>
            </a:r>
            <a:endParaRPr b="0" lang="en-US" sz="1400" spc="-1" strike="noStrike">
              <a:solidFill>
                <a:srgbClr val="355269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8" name=""/>
              <p:cNvSpPr txBox="1"/>
              <p:nvPr/>
            </p:nvSpPr>
            <p:spPr>
              <a:xfrm>
                <a:off x="3141000" y="1696320"/>
                <a:ext cx="2743200" cy="594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∂</m:t>
                        </m:r>
                        <m:r>
                          <m:t xml:space="preserve">C</m:t>
                        </m:r>
                      </m:num>
                      <m:den>
                        <m:r>
                          <m:t xml:space="preserve">∂</m:t>
                        </m:r>
                        <m:r>
                          <m:t xml:space="preserve">θ</m:t>
                        </m:r>
                      </m:den>
                    </m:f>
                    <m:r>
                      <m:t xml:space="preserve"> </m:t>
                    </m:r>
                    <m:r>
                      <m:t xml:space="preserve">=</m:t>
                    </m:r>
                    <m:r>
                      <m:t xml:space="preserve"> 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n</m:t>
                        </m:r>
                      </m:den>
                    </m:f>
                    <m:sSup>
                      <m:e>
                        <m:r>
                          <m:t xml:space="preserve">X</m:t>
                        </m:r>
                      </m:e>
                      <m:sup>
                        <m:r>
                          <m:t xml:space="preserve">T</m:t>
                        </m:r>
                      </m:sup>
                    </m:sSup>
                    <m:d>
                      <m:dPr>
                        <m:begChr m:val="{"/>
                        <m:endChr m:val="}"/>
                      </m:dPr>
                      <m:e>
                        <m:r>
                          <m:t xml:space="preserve">σ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r>
                              <m:t xml:space="preserve">X</m:t>
                            </m:r>
                            <m:r>
                              <m:t xml:space="preserve">θ</m:t>
                            </m:r>
                          </m:e>
                        </m:d>
                        <m:r>
                          <m:t xml:space="preserve">−</m:t>
                        </m:r>
                        <m:r>
                          <m:t xml:space="preserve">Y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Gradient Descent Algorithm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457200" y="960480"/>
            <a:ext cx="82292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666666"/>
                </a:solidFill>
                <a:latin typeface="Calibri"/>
              </a:rPr>
              <a:t>No closed-form solution → use iterative optimization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457200" y="1555200"/>
            <a:ext cx="456840" cy="4572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457200" y="1555200"/>
            <a:ext cx="456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1097280" y="1600920"/>
            <a:ext cx="75891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Initialize θ randomly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457200" y="2150280"/>
            <a:ext cx="456840" cy="4572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457200" y="2150280"/>
            <a:ext cx="456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1097280" y="2196000"/>
            <a:ext cx="75891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Set learning rate η and epochs (number of iterations)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7" name="Shape 8"/>
          <p:cNvSpPr/>
          <p:nvPr/>
        </p:nvSpPr>
        <p:spPr>
          <a:xfrm>
            <a:off x="457200" y="2745000"/>
            <a:ext cx="456840" cy="4572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457200" y="2745000"/>
            <a:ext cx="456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1097280" y="2790720"/>
            <a:ext cx="75891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Calculate gradient: ∂C/∂θ = (1/n)Xᵀ(σ(Xθ) - y)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457200" y="3339720"/>
            <a:ext cx="456840" cy="4572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457200" y="3339720"/>
            <a:ext cx="456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32" name="Text 13"/>
          <p:cNvSpPr/>
          <p:nvPr/>
        </p:nvSpPr>
        <p:spPr>
          <a:xfrm>
            <a:off x="1097280" y="3385440"/>
            <a:ext cx="75891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Update: θ ← θ - η × gradient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33" name="Shape 14"/>
          <p:cNvSpPr/>
          <p:nvPr/>
        </p:nvSpPr>
        <p:spPr>
          <a:xfrm>
            <a:off x="457200" y="3934800"/>
            <a:ext cx="456840" cy="45720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457200" y="3934800"/>
            <a:ext cx="456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1097280" y="3980520"/>
            <a:ext cx="75891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Repeat steps 3-4 until convergence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1422000" y="430560"/>
            <a:ext cx="6318000" cy="429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456840" y="1373040"/>
            <a:ext cx="4015800" cy="264672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2"/>
          <a:stretch/>
        </p:blipFill>
        <p:spPr>
          <a:xfrm>
            <a:off x="4673880" y="1389600"/>
            <a:ext cx="4015800" cy="2613240"/>
          </a:xfrm>
          <a:prstGeom prst="rect">
            <a:avLst/>
          </a:prstGeom>
          <a:ln w="0">
            <a:noFill/>
          </a:ln>
        </p:spPr>
      </p:pic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Predicted versus true probabilities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Implementation Results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graphicFrame>
        <p:nvGraphicFramePr>
          <p:cNvPr id="141" name="Table 0"/>
          <p:cNvGraphicFramePr/>
          <p:nvPr/>
        </p:nvGraphicFramePr>
        <p:xfrm>
          <a:off x="731520" y="1189080"/>
          <a:ext cx="7680600" cy="274536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2011680"/>
                <a:gridCol w="2011680"/>
              </a:tblGrid>
              <a:tr h="457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True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Gradient Descent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sklearn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θ₀ (intercept)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0.3000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0.2998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0.2997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θ₁ (college)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0.1000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0.1001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0.1001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θ₂ (income)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0.2000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0.1999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0.1999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θ₃ (insurance)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0.0500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0.0501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0.0501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θ₄ (stress)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-1.0000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-0.9998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-0.9998</a:t>
                      </a:r>
                      <a:endParaRPr b="0" lang="en-US" sz="1600" spc="-1" strike="noStrike">
                        <a:solidFill>
                          <a:srgbClr val="355269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2" name="Text 1"/>
          <p:cNvSpPr/>
          <p:nvPr/>
        </p:nvSpPr>
        <p:spPr>
          <a:xfrm>
            <a:off x="457200" y="4392360"/>
            <a:ext cx="8229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600" spc="-1" strike="noStrike">
                <a:solidFill>
                  <a:srgbClr val="028090"/>
                </a:solidFill>
                <a:latin typeface="Calibri"/>
              </a:rPr>
              <a:t>Gradient descent matches sklearn's optimized implementation!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457200" y="204840"/>
            <a:ext cx="8229240" cy="39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Marginal Effects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Logistic Coefficients ≠ Marginal Effects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457560" y="914400"/>
            <a:ext cx="8229240" cy="3429000"/>
          </a:xfrm>
          <a:prstGeom prst="rect">
            <a:avLst/>
          </a:prstGeom>
          <a:solidFill>
            <a:srgbClr val="fff3c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731520" y="1280880"/>
            <a:ext cx="768060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856404"/>
                </a:solidFill>
                <a:latin typeface="Calibri"/>
              </a:rPr>
              <a:t>LPM: 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56404"/>
                </a:solidFill>
                <a:latin typeface="Calibri"/>
              </a:rPr>
              <a:t>θ = 0.1 means 10 percentage point increase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856404"/>
                </a:solidFill>
                <a:latin typeface="Calibri"/>
              </a:rPr>
              <a:t>Logistic: 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56404"/>
                </a:solidFill>
                <a:latin typeface="Calibri"/>
              </a:rPr>
              <a:t>θ = 0.1 increases logit by 0.1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56404"/>
                </a:solidFill>
                <a:latin typeface="Calibri"/>
              </a:rPr>
              <a:t>Must calculate marginal effect at specific values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856404"/>
                </a:solidFill>
                <a:latin typeface="Calibri"/>
              </a:rPr>
              <a:t>Use a benchmark person: effects are going to be w.r.t this person 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57200" y="3019680"/>
            <a:ext cx="82292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Table 1"/>
          <p:cNvGraphicFramePr/>
          <p:nvPr/>
        </p:nvGraphicFramePr>
        <p:xfrm>
          <a:off x="1608840" y="1362600"/>
          <a:ext cx="5486040" cy="17024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40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Marginal Effect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</a:tr>
              <a:tr h="340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College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~2.5 pp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40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High Income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~4.8 pp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40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Insurance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~1.2 pp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341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Stress (+1 unit)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~-2.3 pp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9" name=""/>
          <p:cNvSpPr txBox="1"/>
          <p:nvPr/>
        </p:nvSpPr>
        <p:spPr>
          <a:xfrm>
            <a:off x="1600200" y="685800"/>
            <a:ext cx="5898600" cy="33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Example (baseline: no college, low income, uninsured, mean stress):</a:t>
            </a:r>
            <a:endParaRPr b="0" lang="en-US" sz="16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</a:rPr>
              <a:t>Predicted Probabilities: LPM vs Logistic</a:t>
            </a:r>
            <a:endParaRPr b="0" lang="en-US" sz="36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51" name="Shape 1"/>
          <p:cNvSpPr/>
          <p:nvPr/>
        </p:nvSpPr>
        <p:spPr>
          <a:xfrm>
            <a:off x="457200" y="914400"/>
            <a:ext cx="3931560" cy="2057400"/>
          </a:xfrm>
          <a:prstGeom prst="rect">
            <a:avLst/>
          </a:prstGeom>
          <a:solidFill>
            <a:srgbClr val="ffeb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572040" y="1051560"/>
            <a:ext cx="36572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62828"/>
                </a:solidFill>
                <a:latin typeface="Calibri"/>
              </a:rPr>
              <a:t>LPM Problem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640080" y="1738080"/>
            <a:ext cx="365724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Produces negative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probabilities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Some predictions &gt; 1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Violates probability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c62828"/>
                </a:solidFill>
                <a:latin typeface="Calibri"/>
              </a:rPr>
              <a:t>constraints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4755240" y="914040"/>
            <a:ext cx="3931560" cy="205740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4937760" y="1051560"/>
            <a:ext cx="365724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e7d32"/>
                </a:solidFill>
                <a:latin typeface="Calibri"/>
              </a:rPr>
              <a:t>Logistic Solution</a:t>
            </a:r>
            <a:endParaRPr b="0" lang="en-US" sz="2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4937760" y="1738080"/>
            <a:ext cx="365724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✓ </a:t>
            </a: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All probabilities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between 0 and 1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✓ </a:t>
            </a: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Matches true DGP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  </a:t>
            </a: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probabilities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✓ </a:t>
            </a:r>
            <a:r>
              <a:rPr b="0" lang="en-US" sz="1500" spc="-1" strike="noStrike">
                <a:solidFill>
                  <a:srgbClr val="2e7d32"/>
                </a:solidFill>
                <a:latin typeface="Calibri"/>
              </a:rPr>
              <a:t>Theoretically sound</a:t>
            </a:r>
            <a:endParaRPr b="0" lang="en-US" sz="15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457200" y="3202560"/>
            <a:ext cx="8229240" cy="137232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457200" y="3385440"/>
            <a:ext cx="822924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Logistic regression ensures valid probabilities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and better represents binary outcome processes</a:t>
            </a:r>
            <a:endParaRPr b="0" lang="en-US" sz="22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457200" y="365400"/>
            <a:ext cx="8229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065a82"/>
                </a:solidFill>
                <a:latin typeface="Calibri"/>
              </a:rPr>
              <a:t>Key Takeaways</a:t>
            </a:r>
            <a:endParaRPr b="0" lang="en-US" sz="4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274320" y="1280520"/>
            <a:ext cx="136800" cy="548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640080" y="1326600"/>
            <a:ext cx="8046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Logistic regression models binary outcomes using sigmoid function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274320" y="1921320"/>
            <a:ext cx="136800" cy="548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640080" y="1967040"/>
            <a:ext cx="8046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Probabilities generated via σ(Xθ), then used in binomial process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274320" y="2561760"/>
            <a:ext cx="136800" cy="548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640080" y="2607840"/>
            <a:ext cx="8046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Loss function: binary cross-entropy (no closed form)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274320" y="3202560"/>
            <a:ext cx="136800" cy="548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640080" y="3248280"/>
            <a:ext cx="8046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Gradient descent effectively estimates parameters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274320" y="3843000"/>
            <a:ext cx="136800" cy="548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640080" y="3889080"/>
            <a:ext cx="8046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Coefficients are on logit scale, not probability scale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274320" y="4483800"/>
            <a:ext cx="136800" cy="548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640080" y="4529520"/>
            <a:ext cx="8046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Must calculate marginal effects for interpretation</a:t>
            </a:r>
            <a:endParaRPr b="0" lang="en-US" sz="17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57200" y="1829880"/>
            <a:ext cx="822924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Questions?</a:t>
            </a:r>
            <a:endParaRPr b="0" lang="en-US" sz="54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57200" y="4117680"/>
            <a:ext cx="8229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cadcfc"/>
                </a:solidFill>
                <a:latin typeface="Calibri"/>
              </a:rPr>
              <a:t>Logistic Regression | Causal Inference</a:t>
            </a:r>
            <a:endParaRPr b="0" lang="en-US" sz="18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2026-02-13T00:51:04Z</dcterms:created>
  <dc:creator>Causal Inference Course</dc:creator>
  <dc:description/>
  <dc:language>en-US</dc:language>
  <cp:lastModifiedBy/>
  <dcterms:modified xsi:type="dcterms:W3CDTF">2026-02-14T09:54:48Z</dcterms:modified>
  <cp:revision>2</cp:revision>
  <dc:subject>PptxGenJS Presentation</dc:subject>
  <dc:title>Logistic Regression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